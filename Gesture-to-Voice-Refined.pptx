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A44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Gesture-to-Voice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</a:rPr>
              <a:t>Hand gesture recognition that speaks for people with disabilities</a:t>
            </a:r>
            <a:endParaRPr lang="en-US" sz="1800" dirty="0"/>
          </a:p>
        </p:txBody>
      </p:sp>
      <p:sp>
        <p:nvSpPr>
          <p:cNvPr id="4" name="Rule"/>
          <p:cNvSpPr/>
          <p:nvPr/>
        </p:nvSpPr>
        <p:spPr>
          <a:xfrm>
            <a:off x="640080" y="4069080"/>
            <a:ext cx="7863840" cy="0"/>
          </a:xfrm>
          <a:prstGeom prst="line">
            <a:avLst/>
          </a:prstGeom>
          <a:noFill/>
          <a:ln w="9525">
            <a:solidFill>
              <a:srgbClr val="3B4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CD8"/>
                </a:solidFill>
              </a:rPr>
              <a:t>Chirag Singh  |  NSIT, Diploma CSE, 5th Semester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44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A44"/>
                </a:solidFill>
              </a:rPr>
              <a:t>People with speech impairments struggle to express basic needs in public</a:t>
            </a:r>
            <a:endParaRPr lang="en-US" sz="2200" dirty="0"/>
          </a:p>
        </p:txBody>
      </p:sp>
      <p:sp>
        <p:nvSpPr>
          <p:cNvPr id="4" name="Rule"/>
          <p:cNvSpPr/>
          <p:nvPr/>
        </p:nvSpPr>
        <p:spPr>
          <a:xfrm>
            <a:off x="640080" y="2286000"/>
            <a:ext cx="78638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331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Most people do not understand sign language</a:t>
            </a:r>
            <a:endParaRPr lang="en-US" sz="1800" dirty="0"/>
          </a:p>
        </p:txBody>
      </p:sp>
      <p:sp>
        <p:nvSpPr>
          <p:cNvPr id="6" name="Rule"/>
          <p:cNvSpPr/>
          <p:nvPr/>
        </p:nvSpPr>
        <p:spPr>
          <a:xfrm>
            <a:off x="640080" y="2926080"/>
            <a:ext cx="78638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971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Interpreters and special devices are costly or not always available</a:t>
            </a:r>
            <a:endParaRPr lang="en-US" sz="1800" dirty="0"/>
          </a:p>
        </p:txBody>
      </p:sp>
      <p:sp>
        <p:nvSpPr>
          <p:cNvPr id="8" name="Takeaway"/>
          <p:cNvSpPr/>
          <p:nvPr/>
        </p:nvSpPr>
        <p:spPr>
          <a:xfrm>
            <a:off x="640080" y="3703320"/>
            <a:ext cx="7863840" cy="73152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703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 need a simple, low-cost bridge between gestures and speech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44"/>
                </a:solidFill>
              </a:rPr>
              <a:t>Our Solution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A webcam reads the hand gesture and the computer speaks the message aloud.</a:t>
            </a:r>
            <a:endParaRPr lang="en-US" sz="1600" dirty="0"/>
          </a:p>
        </p:txBody>
      </p:sp>
      <p:sp>
        <p:nvSpPr>
          <p:cNvPr id="4" name="Step box"/>
          <p:cNvSpPr txBox="1"/>
          <p:nvPr/>
        </p:nvSpPr>
        <p:spPr>
          <a:xfrm>
            <a:off x="640080" y="2148840"/>
            <a:ext cx="1737360" cy="1188720"/>
          </a:xfrm>
          <a:prstGeom prst="roundRect">
            <a:avLst>
              <a:gd name="adj" fmla="val 3846"/>
            </a:avLst>
          </a:prstGeom>
          <a:solidFill>
            <a:srgbClr val="1E2A44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Webcam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(OpenCV)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2148840"/>
            <a:ext cx="301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B8A6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Step box"/>
          <p:cNvSpPr txBox="1"/>
          <p:nvPr/>
        </p:nvSpPr>
        <p:spPr>
          <a:xfrm>
            <a:off x="2679192" y="2148840"/>
            <a:ext cx="1737360" cy="1188720"/>
          </a:xfrm>
          <a:prstGeom prst="roundRect">
            <a:avLst>
              <a:gd name="adj" fmla="val 3846"/>
            </a:avLst>
          </a:prstGeom>
          <a:solidFill>
            <a:srgbClr val="1E2A44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Hand landmarks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(MediaPipe)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416552" y="2148840"/>
            <a:ext cx="301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B8A6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tep box"/>
          <p:cNvSpPr txBox="1"/>
          <p:nvPr/>
        </p:nvSpPr>
        <p:spPr>
          <a:xfrm>
            <a:off x="4718304" y="2148840"/>
            <a:ext cx="1737360" cy="1188720"/>
          </a:xfrm>
          <a:prstGeom prst="roundRect">
            <a:avLst>
              <a:gd name="adj" fmla="val 3846"/>
            </a:avLst>
          </a:prstGeom>
          <a:solidFill>
            <a:srgbClr val="1E2A44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Gesture rules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(Python)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55664" y="2148840"/>
            <a:ext cx="301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B8A6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tep box"/>
          <p:cNvSpPr txBox="1"/>
          <p:nvPr/>
        </p:nvSpPr>
        <p:spPr>
          <a:xfrm>
            <a:off x="6757416" y="2148840"/>
            <a:ext cx="1737360" cy="1188720"/>
          </a:xfrm>
          <a:prstGeom prst="roundRect">
            <a:avLst>
              <a:gd name="adj" fmla="val 3846"/>
            </a:avLst>
          </a:prstGeom>
          <a:solidFill>
            <a:srgbClr val="14B8A6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Voice output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(Windows speech)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749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Runs offline, in real time, on any laptop with a camera.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44"/>
                </a:solidFill>
              </a:rPr>
              <a:t>Gesture Set (13 Gestures)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3840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A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palm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need help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fingers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need water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Thumbs 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Peace sign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 sign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Shaka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it easy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80160"/>
          <a:ext cx="3840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A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Vulcan salute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long and prosper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hands (2 hands)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Love and friendship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Pinched fingers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 you want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 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Thumb+index+pinky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love you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finger 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 here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44"/>
                </a:solidFill>
              </a:rPr>
              <a:t>How Recognition Works</a:t>
            </a:r>
            <a:endParaRPr lang="en-US" sz="2800" dirty="0"/>
          </a:p>
        </p:txBody>
      </p:sp>
      <p:sp>
        <p:nvSpPr>
          <p:cNvPr id="3" name="Rule"/>
          <p:cNvSpPr/>
          <p:nvPr/>
        </p:nvSpPr>
        <p:spPr>
          <a:xfrm>
            <a:off x="640080" y="1280160"/>
            <a:ext cx="78638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0759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MediaPipe finds </a:t>
            </a:r>
            <a:pPr indent="0" marL="0">
              <a:buNone/>
            </a:pPr>
            <a:r>
              <a:rPr lang="en-US" sz="1800" b="1" dirty="0">
                <a:solidFill>
                  <a:srgbClr val="1E2A44"/>
                </a:solidFill>
              </a:rPr>
              <a:t>21 landmark points</a:t>
            </a:r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 on each hand (up to 2 hands)</a:t>
            </a:r>
            <a:endParaRPr lang="en-US" sz="1800" dirty="0"/>
          </a:p>
        </p:txBody>
      </p:sp>
      <p:sp>
        <p:nvSpPr>
          <p:cNvPr id="5" name="Rule"/>
          <p:cNvSpPr/>
          <p:nvPr/>
        </p:nvSpPr>
        <p:spPr>
          <a:xfrm>
            <a:off x="640080" y="1938528"/>
            <a:ext cx="78638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Each finger is marked extended or folded; fingertip distances detect OK, pinched and heart</a:t>
            </a:r>
            <a:endParaRPr lang="en-US" sz="1800" dirty="0"/>
          </a:p>
        </p:txBody>
      </p:sp>
      <p:sp>
        <p:nvSpPr>
          <p:cNvPr id="7" name="Rule"/>
          <p:cNvSpPr/>
          <p:nvPr/>
        </p:nvSpPr>
        <p:spPr>
          <a:xfrm>
            <a:off x="640080" y="2596896"/>
            <a:ext cx="78638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6243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A gesture must be held for </a:t>
            </a:r>
            <a:pPr indent="0" marL="0">
              <a:buNone/>
            </a:pPr>
            <a:r>
              <a:rPr lang="en-US" sz="1800" b="1" dirty="0">
                <a:solidFill>
                  <a:srgbClr val="1E2A44"/>
                </a:solidFill>
              </a:rPr>
              <a:t>10 frames</a:t>
            </a:r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 to avoid false triggers</a:t>
            </a:r>
            <a:endParaRPr lang="en-US" sz="1800" dirty="0"/>
          </a:p>
        </p:txBody>
      </p:sp>
      <p:sp>
        <p:nvSpPr>
          <p:cNvPr id="9" name="Rule"/>
          <p:cNvSpPr/>
          <p:nvPr/>
        </p:nvSpPr>
        <p:spPr>
          <a:xfrm>
            <a:off x="640080" y="3255264"/>
            <a:ext cx="78638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282696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Speaks each time a gesture is shown, then every </a:t>
            </a:r>
            <a:pPr indent="0" marL="0">
              <a:buNone/>
            </a:pPr>
            <a:r>
              <a:rPr lang="en-US" sz="1800" b="1" dirty="0">
                <a:solidFill>
                  <a:srgbClr val="1E2A44"/>
                </a:solidFill>
              </a:rPr>
              <a:t>5 seconds</a:t>
            </a:r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 while held</a:t>
            </a:r>
            <a:endParaRPr lang="en-US" sz="1800" dirty="0"/>
          </a:p>
        </p:txBody>
      </p:sp>
      <p:sp>
        <p:nvSpPr>
          <p:cNvPr id="11" name="Rule"/>
          <p:cNvSpPr/>
          <p:nvPr/>
        </p:nvSpPr>
        <p:spPr>
          <a:xfrm>
            <a:off x="640080" y="3913632"/>
            <a:ext cx="78638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94106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Speech runs in the background so the video never freezes</a:t>
            </a:r>
            <a:endParaRPr lang="en-US" sz="1800" dirty="0"/>
          </a:p>
        </p:txBody>
      </p:sp>
      <p:sp>
        <p:nvSpPr>
          <p:cNvPr id="13" name="Rule"/>
          <p:cNvSpPr/>
          <p:nvPr/>
        </p:nvSpPr>
        <p:spPr>
          <a:xfrm>
            <a:off x="640080" y="4572000"/>
            <a:ext cx="78638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44"/>
                </a:solidFill>
              </a:rPr>
              <a:t>Limitations &amp; Future Scope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4" name="Rule"/>
          <p:cNvSpPr/>
          <p:nvPr/>
        </p:nvSpPr>
        <p:spPr>
          <a:xfrm>
            <a:off x="640080" y="1828800"/>
            <a:ext cx="3657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4708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Voice works on Windows only</a:t>
            </a:r>
            <a:endParaRPr lang="en-US" sz="1800" dirty="0"/>
          </a:p>
        </p:txBody>
      </p:sp>
      <p:sp>
        <p:nvSpPr>
          <p:cNvPr id="6" name="Rule"/>
          <p:cNvSpPr/>
          <p:nvPr/>
        </p:nvSpPr>
        <p:spPr>
          <a:xfrm>
            <a:off x="640080" y="2395728"/>
            <a:ext cx="3657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41401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Needs good lighting</a:t>
            </a:r>
            <a:endParaRPr lang="en-US" sz="1800" dirty="0"/>
          </a:p>
        </p:txBody>
      </p:sp>
      <p:sp>
        <p:nvSpPr>
          <p:cNvPr id="8" name="Rule"/>
          <p:cNvSpPr/>
          <p:nvPr/>
        </p:nvSpPr>
        <p:spPr>
          <a:xfrm>
            <a:off x="640080" y="2962656"/>
            <a:ext cx="3657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98094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Complex gestures less reliable</a:t>
            </a:r>
            <a:endParaRPr lang="en-US" sz="1800" dirty="0"/>
          </a:p>
        </p:txBody>
      </p:sp>
      <p:sp>
        <p:nvSpPr>
          <p:cNvPr id="10" name="Rule"/>
          <p:cNvSpPr/>
          <p:nvPr/>
        </p:nvSpPr>
        <p:spPr>
          <a:xfrm>
            <a:off x="640080" y="3529584"/>
            <a:ext cx="3657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12" name="Rule"/>
          <p:cNvSpPr/>
          <p:nvPr/>
        </p:nvSpPr>
        <p:spPr>
          <a:xfrm>
            <a:off x="4846320" y="1828800"/>
            <a:ext cx="3657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84708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ML model for sign alphabets</a:t>
            </a:r>
            <a:endParaRPr lang="en-US" sz="1800" dirty="0"/>
          </a:p>
        </p:txBody>
      </p:sp>
      <p:sp>
        <p:nvSpPr>
          <p:cNvPr id="14" name="Rule"/>
          <p:cNvSpPr/>
          <p:nvPr/>
        </p:nvSpPr>
        <p:spPr>
          <a:xfrm>
            <a:off x="4846320" y="2395728"/>
            <a:ext cx="3657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241401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More languages, e.g. Hindi</a:t>
            </a:r>
            <a:endParaRPr lang="en-US" sz="1800" dirty="0"/>
          </a:p>
        </p:txBody>
      </p:sp>
      <p:sp>
        <p:nvSpPr>
          <p:cNvPr id="16" name="Rule"/>
          <p:cNvSpPr/>
          <p:nvPr/>
        </p:nvSpPr>
        <p:spPr>
          <a:xfrm>
            <a:off x="4846320" y="2962656"/>
            <a:ext cx="3657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98094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User-defined gestures</a:t>
            </a:r>
            <a:endParaRPr lang="en-US" sz="1800" dirty="0"/>
          </a:p>
        </p:txBody>
      </p:sp>
      <p:sp>
        <p:nvSpPr>
          <p:cNvPr id="18" name="Rule"/>
          <p:cNvSpPr/>
          <p:nvPr/>
        </p:nvSpPr>
        <p:spPr>
          <a:xfrm>
            <a:off x="4846320" y="3529584"/>
            <a:ext cx="3657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54787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Mac / Linux voice, mobile app</a:t>
            </a:r>
            <a:endParaRPr lang="en-US" sz="1800" dirty="0"/>
          </a:p>
        </p:txBody>
      </p:sp>
      <p:sp>
        <p:nvSpPr>
          <p:cNvPr id="20" name="Rule"/>
          <p:cNvSpPr/>
          <p:nvPr/>
        </p:nvSpPr>
        <p:spPr>
          <a:xfrm>
            <a:off x="4846320" y="4096512"/>
            <a:ext cx="3657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21" name="Divider"/>
          <p:cNvSpPr/>
          <p:nvPr/>
        </p:nvSpPr>
        <p:spPr>
          <a:xfrm>
            <a:off x="4572000" y="1280160"/>
            <a:ext cx="0" cy="283464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44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A44"/>
                </a:solidFill>
              </a:rPr>
              <a:t>A low-cost, offline tool that gives a voice to simple gestures</a:t>
            </a:r>
            <a:endParaRPr lang="en-US" sz="2200" dirty="0"/>
          </a:p>
        </p:txBody>
      </p:sp>
      <p:sp>
        <p:nvSpPr>
          <p:cNvPr id="4" name="Rule"/>
          <p:cNvSpPr/>
          <p:nvPr/>
        </p:nvSpPr>
        <p:spPr>
          <a:xfrm>
            <a:off x="640080" y="2103120"/>
            <a:ext cx="78638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21408"/>
            <a:ext cx="7863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Built with Python, OpenCV, MediaPipe and Windows speech</a:t>
            </a:r>
            <a:endParaRPr lang="en-US" sz="1800" dirty="0"/>
          </a:p>
        </p:txBody>
      </p:sp>
      <p:sp>
        <p:nvSpPr>
          <p:cNvPr id="6" name="Rule"/>
          <p:cNvSpPr/>
          <p:nvPr/>
        </p:nvSpPr>
        <p:spPr>
          <a:xfrm>
            <a:off x="640080" y="2697480"/>
            <a:ext cx="78638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715768"/>
            <a:ext cx="7863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Easy to extend with new gestures and languages</a:t>
            </a:r>
            <a:endParaRPr lang="en-US" sz="1800" dirty="0"/>
          </a:p>
        </p:txBody>
      </p:sp>
      <p:sp>
        <p:nvSpPr>
          <p:cNvPr id="8" name="Rule"/>
          <p:cNvSpPr/>
          <p:nvPr/>
        </p:nvSpPr>
        <p:spPr>
          <a:xfrm>
            <a:off x="640080" y="3291840"/>
            <a:ext cx="78638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310128"/>
            <a:ext cx="7863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Code and report: github.com/&lt;your-username&gt;/gesture-voice</a:t>
            </a:r>
            <a:endParaRPr lang="en-US" sz="1800" dirty="0"/>
          </a:p>
        </p:txBody>
      </p:sp>
      <p:sp>
        <p:nvSpPr>
          <p:cNvPr id="10" name="Rule"/>
          <p:cNvSpPr/>
          <p:nvPr/>
        </p:nvSpPr>
        <p:spPr>
          <a:xfrm>
            <a:off x="640080" y="3886200"/>
            <a:ext cx="78638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sture-to-Voice">
  <a:themeElements>
    <a:clrScheme name="Gesture-to-Voice">
      <a:dk1>
        <a:srgbClr val="1E2A44"/>
      </a:dk1>
      <a:lt1>
        <a:srgbClr val="FFFFFF"/>
      </a:lt1>
      <a:dk2>
        <a:srgbClr val="4B5563"/>
      </a:dk2>
      <a:lt2>
        <a:srgbClr val="F5F7FA"/>
      </a:lt2>
      <a:accent1>
        <a:srgbClr val="14B8A6"/>
      </a:accent1>
      <a:accent2>
        <a:srgbClr val="1E2A44"/>
      </a:accent2>
      <a:accent3>
        <a:srgbClr val="4B5563"/>
      </a:accent3>
      <a:accent4>
        <a:srgbClr val="D1D5DB"/>
      </a:accent4>
      <a:accent5>
        <a:srgbClr val="0F766E"/>
      </a:accent5>
      <a:accent6>
        <a:srgbClr val="9CA3AF"/>
      </a:accent6>
      <a:hlink>
        <a:srgbClr val="14B8A6"/>
      </a:hlink>
      <a:folHlink>
        <a:srgbClr val="4B5563"/>
      </a:folHlink>
    </a:clrScheme>
    <a:fontScheme name="Gesture-to-Vo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Gesture-to-Voice</dc:title>
  <dc:subject>PptxGenJS Presentation</dc:subject>
  <dc:creator>Chirag Singh</dc:creator>
  <cp:lastModifiedBy>Chirag Singh</cp:lastModifiedBy>
  <cp:revision>1</cp:revision>
  <dcterms:created xsi:type="dcterms:W3CDTF">2026-10-07T12:54:01Z</dcterms:created>
  <dcterms:modified xsi:type="dcterms:W3CDTF">2026-10-07T12:54:01Z</dcterms:modified>
</cp:coreProperties>
</file>